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6094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Úvod (cca 30 s). Dnes mám tři bloky po 15 minutách: výklad, ukázka a úkol. Výklad navazuje na Přednášku 4 (undo a redo, SCN, ARCHIVELOG, FRA), to neopakuji, jen připomenu. Pracujeme na Oracle Database 23ai Free. Cíl výkladu: abyste věděli, jak je RMAN postavený, jaké zálohy umí a co v ukázce uvidíte.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Cca 1 minuta. Za běhu databáze se soubory neustále mění, takže kopie pořízená v OS může být nekonzistentní a z ní se nedá obnovit. Navíc je velká část souborů prázdná a RMAN prázdné bloky nezálohuje. Blok je nejmenší jednotka, se kterou Oracle pracuje, typicky 8 KB. RMAN čte, zapisuje a kontroluje bloky. Poslední bod je důležitý: RMAN si sám pamatuje, co zálohoval, a na tom stojí všechno ostatní.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Cca 1,5 minuty. Zleva doprava: klient rman.exe jen přijímá příkazy a předává je cílové databázi. Skutečnou práci dělá kanál, což je serverová relace uvnitř cílové databáze, která čte datové soubory a zapisuje zálohy na disk nebo na pásku. Metadata, tedy co a kdy bylo zálohováno, jsou vždy v řídicím souboru. Katalog obnovy je volitelný a leží v jiné databázi. Poznámka pro dotazy: více kanálů znamená paralelní zálohování, ale to je funkce Enterprise Edition, ve Free necháváme paralelismus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Cca 1 minuta, tabulku jen projdi, nečti ji celou. Důležité jsou tři věci: klient nic nepřenáší, kanál je serverová relace, metadata jsou vždy v řídicím souboru. Správce médií a pomocná databáze jsou pro nás okrajové, v ukázce zálohujeme jen na disk.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Cca 1 minuta. Bez katalogu si RMAN pamatuje všechno v řídicím souboru a záznamy se mohou po sedmi dnech přepsat. Proto musí být tato hodnota delší než okno obnovy z politiky uchovávání, kterou si ukážeme za chvíli. Při ztrátě všech řídicích souborů je evidence pryč. Proto je klíčová autozáloha řídicího souboru, o které budu mluvit u nastavení.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Cca 45 sekund. Krátká připomínka z minulé přednášky. Databáze musí běžet v režimu ARCHIVELOG, jinak nejsou archivní logy a nelze obnovit k určitému okamžiku. Ověří se příkazem ARCHIVE LOG LIST. Ve cvičení tento režim zapíná jeden člen skupiny v kapitole 0 a před ukázkou si ho ověřuji i já.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Cca 2 minuty, tohle je jádro výkladu. Plná záloha a úroveň 0 mají stejný obsah, ale jen úroveň 0 je základ pro inkrementální zálohy. Úroveň 1 rozdílová obsahuje bloky změněné od poslední zálohy úrovně 1 nebo 0, je nejmenší a nejrychlejší, ale při obnově se musí aplikovat všechny od úrovně 0. Úroveň 1 kumulativní obsahuje změny od poslední úrovně 0, každý den roste, ale při obnově stačí úroveň 0 a poslední kumulativní. Otázka na publikum: proč neděláme každý den plnou zálohu? Odpověď: zabere víc místa a času.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Cca 1,5 minuty. Tohle je nejčastější zdroj zmatku. V obecné literatuře se rozdílovou zálohou často myslí záloha změn od poslední plné zálohy. V Oracle tomu odpovídá kumulativní úroveň 1. Oracle slovem differential označuje změny od poslední zálohy jakékoli úrovně, tedy to, čemu se jinde říká inkrementální. Pokud někdo mimo Oracle mluví o diferenciální záloze, ověřte, co přesně myslí. Schéma: u rozdílové každá šipka míří na předchozí zálohu, u kumulativní vždy na úroveň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Cca 1,5 minuty. Backup set je výchozí formát: jen použité bloky, jde komprimovat a šifrovat, ale před použitím se musí obnovit příkazem RESTORE. Image copy je bajtově shodná kopie datového souboru, je větší a jen na disk, ale dá se okamžitě použít místo poškozeného souboru. Kdo potřebuje kratší čas obnovy, sáhne po kopiích. Kombinace obou je inkrementálně aktualizovaná záloha. Komprese a šifrování: BASIC komprese je ve všech edicích, vyšší úrovně a šifrování jsou součástí Free. Zálohu šifrovanou heslem bez hesla neobnovíte.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Cca 1,5 minuty. CONFIGURE ukládá nastavení trvale do řídicího souboru. SHOW ALL ho vypíše, CLEAR vrátí výchozí hodnotu. Čtyři příkazy, které budeme používat v ukázce: politika uchovávání, autozáloha řídicího souboru, komprese přes typ zálohy a politika mazání archivních logů, která říká, že log lze smazat až po zazálohování. Formát záloh záměrně nenastavujeme, zálohy půjdou do FRA. Nastavení je společné pro celou CDB.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Cca 1 minuta. Dva způsoby, jak říct RMAN, co je ještě potřeba. Okno obnovy: chci se umět vrátit k libovolnému okamžiku za posledních sedm dní. Redundance: chci mít vždy n záloh každého souboru. Rozdíl uvidíte v úkolu: při redundanci 2 může být zastaralá i záloha, která je stará jen hodiny. Co politiku nesplňuje, je obsolete. Pozor, DELETE OBSOLETE opravdu maže, na sdíleném serveru ho při redundanci nepouštějte.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Cca 1 minuta. Za prvé: bez nastaveného formátu jdou zálohy do FRA, což u nás děláme. Za druhé: autozáloha řídicího souboru. Řídicí soubor obsahuje evidenci všech záloh. Když ho ztratíte a nemáte jeho zálohu ani katalog, RMAN zálohy nenajde, i když fyzicky leží na disku. Od verze 12.2 je autozáloha výchozí ON, ale doporučuji ji nastavit explicitně a vědět, proč tam je. Při obnově řídicího souboru je dobré znát DBID, v ukázce ho uvidíme v názvu autozálohy.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Cca 1,5 minuty. Problém: inkrementální záloha je malá, ale aby zjistila, které bloky se změnily, musí bez BCT přečíst všechny. Proto trvá skoro stejně jako úroveň 0. Řešení: Block Change Tracking. Proces CTWR průběžně zapisuje do souboru sledování, které bloky se změnily, a záloha úrovně 1 pak čte jen ty. SCN je číslo poslední změny uložené v každém bloku. U naší malé databáze bude rozdíl v čase malý, u terabajtové rozhoduje o hodinách. Proto v ukázce sledujeme počet přečtených bloků, ne jen čas.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Cca 1 minuta. Zapnutí je jeden příkaz. Soubor sledování je jeden pro celou CDB, což je důležité na sdíleném serveru: pokud ho už zapnul někdo jiný, nezapínejte ho znovu a nevypínejte ho, dokud neskončí všichni. Po zapnutí je nutná nová záloha úrovně 0, aby měl BCT od čeho počítat. Využití ověříte v pohledu v$backup_datafile: sloupec USED_CHANGE_TRACKING a porovnání přečtených bloků s velikostí souboru. To ukážu živě v ukázce.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Cca 1,5 minuty. Připojíme-li se ke kořeni CDB, příkaz BACKUP DATABASE zálohuje celou CDB, tedy kořen, PDB seed a všechny PDB. Každá PDB má vlastní datové soubory, REPORT SCHEMA je všechny vypíše. Jednotlivou PDB zazálohujeme příkazem BACKUP PLUGGABLE DATABASE, ale k obnově samotná nestačí: archivní logy jsou společné pro celou CDB, proto vedle ní musí existovat zálohy archivních logů a řídicího souboru z kořene. V praxi tedy zálohujeme celou CDB s archivními 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Cca 1 minuta. Zálohy, ze kterých nelze obnovit, jsou bezcenné, proto je ověřujeme. LIST ukazuje, co existuje, REPORT, co chybí nebo je zastaralé, CROSSCHECK porovná evidenci s diskem. Rozdíl mezi obsolete a expired je častá otázka: obsolete je záloha, kterou politika už nepotřebuje, expired je evidovaná záloha, jejíž soubor na disku není. Týdně se doporučuje i RESTORE DATABASE VALIDATE, který ověří, že ze záloh lze obnovit. Přesně tyto příkazy použijete v úkolu.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Cca 30 sekund. Šest věcí. RMAN zálohuje bloky a vede si evidenci. Základ je ARCHIVELOG. Úroveň 0 je základ, úroveň 1 rozdílová nebo kumulativní. CONFIGURE nastavuje politiku uchovávání, autozálohu a další, bez formátu jdou zálohy do FRA. BCT zrychluje inkrementální zálohy. A zálohujeme celou CDB s archivními logy. Přechod: teď vám v ukázce předvedu plnou zálohu, inkrementální zálohu bez BCT a s BCT a porovnáme 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79501"/>
            <a:ext cx="10566400" cy="4165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79501"/>
            <a:ext cx="10566400" cy="4165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2219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BEZPEČNOST DBS · ZÁLOHOVÁNÍ A OBNOVA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538710"/>
            <a:ext cx="10883392" cy="151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RMAN: architektura a zálohování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800" y="4235351"/>
            <a:ext cx="10883392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Jak funguje Recovery Manager, jaké zálohy umí a jak ho nastavit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RMAN · architektura a zálohování · Přednáška 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ÚVOD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RMAN pracuje s bloky, ne se soubory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35051"/>
            <a:ext cx="5168900" cy="2149971"/>
          </a:xfrm>
          <a:prstGeom prst="roundRect">
            <a:avLst>
              <a:gd name="adj" fmla="val 56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1079500" y="2095401"/>
            <a:ext cx="4787646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Kopírování souborů v 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9500" y="2459831"/>
            <a:ext cx="4787646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Kopíruje celé soubory včetně prázdných bloků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9500" y="2801441"/>
            <a:ext cx="4787646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Neví, jestli jsou bloky poškozené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9500" y="3143052"/>
            <a:ext cx="4787646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Neumí inkrementální zálohy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9500" y="3484662"/>
            <a:ext cx="4787646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Nemá vlastní evidenci záloh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03950" y="1835051"/>
            <a:ext cx="5168900" cy="2149971"/>
          </a:xfrm>
          <a:prstGeom prst="roundRect">
            <a:avLst>
              <a:gd name="adj" fmla="val 561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6464300" y="2095401"/>
            <a:ext cx="4787646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RMAN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64300" y="2459831"/>
            <a:ext cx="4787646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Zálohuje jen použité bloky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64300" y="2801441"/>
            <a:ext cx="4787646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Kontroluje poškození bloků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64300" y="3143052"/>
            <a:ext cx="4787646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Umí inkrementální zálohy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64300" y="3484662"/>
            <a:ext cx="4787646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Sám vede evidenci, co a kdy zálohoval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RMAN · architektura a zálohování · Úvod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ARCHITEKTURA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Kdo co dělá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2135981"/>
            <a:ext cx="3035300" cy="1490861"/>
          </a:xfrm>
          <a:prstGeom prst="roundRect">
            <a:avLst>
              <a:gd name="adj" fmla="val 80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1028700" y="2345531"/>
            <a:ext cx="2694686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Klient RMAN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28700" y="2697262"/>
            <a:ext cx="2694686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rman.exe přijímá příkazy a předává je databázi. Sám data nepřenáší.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013200" y="2596952"/>
            <a:ext cx="48768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8350" y="1835051"/>
            <a:ext cx="3035300" cy="2092722"/>
          </a:xfrm>
          <a:prstGeom prst="roundRect">
            <a:avLst>
              <a:gd name="adj" fmla="val 5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4787900" y="2044601"/>
            <a:ext cx="2694686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Cílová databáze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87900" y="2396331"/>
            <a:ext cx="2694686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 nás CDB FREE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94250" y="2731591"/>
            <a:ext cx="2603500" cy="439341"/>
          </a:xfrm>
          <a:prstGeom prst="roundRect">
            <a:avLst>
              <a:gd name="adj" fmla="val 15899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 wrap="square" lIns="112892" tIns="74792" rIns="42788" bIns="49392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kanál (channel)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94250" y="3272532"/>
            <a:ext cx="2603500" cy="439341"/>
          </a:xfrm>
          <a:prstGeom prst="roundRect">
            <a:avLst>
              <a:gd name="adj" fmla="val 15899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 wrap="square" lIns="112892" tIns="74792" rIns="42788" bIns="49392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řídicí soubor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0" y="2596952"/>
            <a:ext cx="48768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8337550" y="2135981"/>
            <a:ext cx="3035300" cy="1490861"/>
          </a:xfrm>
          <a:prstGeom prst="roundRect">
            <a:avLst>
              <a:gd name="adj" fmla="val 80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8547100" y="2345531"/>
            <a:ext cx="2694686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Zálohy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47100" y="2697262"/>
            <a:ext cx="2694686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DISK (ve FRA), nebo SBT: páska a cloud přes správce médií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9150" y="4194473"/>
            <a:ext cx="10553700" cy="608310"/>
          </a:xfrm>
          <a:prstGeom prst="roundRect">
            <a:avLst>
              <a:gd name="adj" fmla="val 19834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dash"/>
          </a:ln>
        </p:spPr>
        <p:txBody>
          <a:bodyPr wrap="square" lIns="225013" tIns="148813" rIns="0" bIns="123413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Volitelně: katalog obnovy</a:t>
            </a: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schéma v samostatné databázi s delší historií záloh a evidencí více databází.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RMAN · architektura a zálohování · Architektura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ARCHITEKTURA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Součásti RMAN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16000" y="1828701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Součást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708400" y="1828701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5975" y="2121396"/>
            <a:ext cx="10560050" cy="491430"/>
          </a:xfrm>
          <a:prstGeom prst="roundRect">
            <a:avLst>
              <a:gd name="adj" fmla="val 1744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1022350" y="2251571"/>
            <a:ext cx="26162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klient RMAN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14750" y="2251571"/>
            <a:ext cx="78486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rman.exe: přijímá příkazy, sám data nepřenáší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5975" y="2695377"/>
            <a:ext cx="10560050" cy="491430"/>
          </a:xfrm>
          <a:prstGeom prst="roundRect">
            <a:avLst>
              <a:gd name="adj" fmla="val 1744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1022350" y="2825552"/>
            <a:ext cx="26162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cílová databáze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14750" y="2825552"/>
            <a:ext cx="78486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databáze, kterou zálohujeme; u nás CDB FREE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5975" y="3269357"/>
            <a:ext cx="10560050" cy="491430"/>
          </a:xfrm>
          <a:prstGeom prst="roundRect">
            <a:avLst>
              <a:gd name="adj" fmla="val 1744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1022350" y="3399532"/>
            <a:ext cx="26162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kanál (channel)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14750" y="3399532"/>
            <a:ext cx="78486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serverová relace, která čte soubory a zapisuje zálohy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5975" y="3843338"/>
            <a:ext cx="10560050" cy="491430"/>
          </a:xfrm>
          <a:prstGeom prst="roundRect">
            <a:avLst>
              <a:gd name="adj" fmla="val 1744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1022350" y="3973512"/>
            <a:ext cx="26162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úložiště metadat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14750" y="3973512"/>
            <a:ext cx="78486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záloh a logů: vždy řídicí soubor, volitelně katalog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5975" y="4417318"/>
            <a:ext cx="10560050" cy="491430"/>
          </a:xfrm>
          <a:prstGeom prst="roundRect">
            <a:avLst>
              <a:gd name="adj" fmla="val 1744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1022350" y="4547493"/>
            <a:ext cx="26162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katalog obnovy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14750" y="4547493"/>
            <a:ext cx="78486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schéma v samostatné DB, delší historie, více databází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5975" y="4991298"/>
            <a:ext cx="10560050" cy="491430"/>
          </a:xfrm>
          <a:prstGeom prst="roundRect">
            <a:avLst>
              <a:gd name="adj" fmla="val 1744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Text 20"/>
          <p:cNvSpPr/>
          <p:nvPr/>
        </p:nvSpPr>
        <p:spPr>
          <a:xfrm>
            <a:off x="1022350" y="5121473"/>
            <a:ext cx="26162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správce médií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14750" y="5121473"/>
            <a:ext cx="78486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 třetí strany pro pásky a cloud (rozhraní SBT)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RMAN · architektura a zálohování · Architektura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5967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ŘÍDICÍ SOUBOR JAKO ÚLOŽIŠTĚ METADAT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325390"/>
            <a:ext cx="10883392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000"/>
              </a:lnSpc>
              <a:buNone/>
            </a:pPr>
            <a:r>
              <a:rPr lang="en-US" sz="10000" b="1" i="0" dirty="0">
                <a:solidFill>
                  <a:srgbClr val="FB9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dní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812800" y="3747790"/>
            <a:ext cx="10883392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výchozí doba, po které se záznamy o zálohách mohou přepsat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4197350"/>
            <a:ext cx="10883392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Parametr </a:t>
            </a:r>
            <a:r>
              <a:rPr lang="en-US" sz="1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CONTROL_FILE_RECORD_KEEP_TIME</a:t>
            </a:r>
            <a:r>
              <a:rPr 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musí být delší než okno obnovy. Jinak RMAN „zapomene“ zálohy, které ještě potřebujete.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RMAN · architektura a zálohování · Architektura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PŘEDPOKLAD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Databáze musí běžet v režimu ARCHIVELOG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28701"/>
            <a:ext cx="5337048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Zálohy za provozu a obnova k libovolnému okamžiku stojí na </a:t>
            </a: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archivních logech</a:t>
            </a:r>
            <a:r>
              <a:rPr lang="en-US" sz="1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504182"/>
            <a:ext cx="5337048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Bez ARCHIVELOG nemá PLUS ARCHIVELOG smysl.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2905423"/>
            <a:ext cx="533704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Připomenutí z Přednášky 4.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97600" y="1952427"/>
            <a:ext cx="5181600" cy="1069181"/>
          </a:xfrm>
          <a:prstGeom prst="roundRect">
            <a:avLst>
              <a:gd name="adj" fmla="val 11878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6451600" y="2206427"/>
            <a:ext cx="481380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ARCHIVE LOG LIST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51600" y="2518767"/>
            <a:ext cx="481380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-- Database log mode: Archive Mode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RMAN · architektura a zálohování · Předpoklad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TYPY ZÁLOH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Plná a inkrementální záloha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16000" y="1828701"/>
            <a:ext cx="28778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962400" y="1828701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Obsah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924800" y="1828701"/>
            <a:ext cx="36626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Poznámka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5975" y="2121396"/>
            <a:ext cx="10560050" cy="491430"/>
          </a:xfrm>
          <a:prstGeom prst="roundRect">
            <a:avLst>
              <a:gd name="adj" fmla="val 1744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1022350" y="2251571"/>
            <a:ext cx="287782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plná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68750" y="2251571"/>
            <a:ext cx="39243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všechny použité bloky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31150" y="2251571"/>
            <a:ext cx="366268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nelze použít jako základ pro L1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5975" y="2695377"/>
            <a:ext cx="10560050" cy="491430"/>
          </a:xfrm>
          <a:prstGeom prst="roundRect">
            <a:avLst>
              <a:gd name="adj" fmla="val 1744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Text 10"/>
          <p:cNvSpPr/>
          <p:nvPr/>
        </p:nvSpPr>
        <p:spPr>
          <a:xfrm>
            <a:off x="1022350" y="2825552"/>
            <a:ext cx="287782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úroveň 0 (L0)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68750" y="2825552"/>
            <a:ext cx="39243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všechny použité bloky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931150" y="2825552"/>
            <a:ext cx="366268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základ pro zálohy úrovně 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5975" y="3269357"/>
            <a:ext cx="10560050" cy="491430"/>
          </a:xfrm>
          <a:prstGeom prst="roundRect">
            <a:avLst>
              <a:gd name="adj" fmla="val 1744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1022350" y="3399532"/>
            <a:ext cx="287782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úroveň 1 rozdílová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68750" y="3399532"/>
            <a:ext cx="39243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změny od poslední zálohy 0 nebo 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931150" y="3399532"/>
            <a:ext cx="366268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nejmenší a nejrychlejší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5975" y="3843338"/>
            <a:ext cx="10560050" cy="491430"/>
          </a:xfrm>
          <a:prstGeom prst="roundRect">
            <a:avLst>
              <a:gd name="adj" fmla="val 1744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Text 18"/>
          <p:cNvSpPr/>
          <p:nvPr/>
        </p:nvSpPr>
        <p:spPr>
          <a:xfrm>
            <a:off x="1022350" y="3973512"/>
            <a:ext cx="287782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úroveň 1 kumulativní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968750" y="3973512"/>
            <a:ext cx="39243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změny od poslední zálohy 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931150" y="3973512"/>
            <a:ext cx="366268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roste, ale obnova je jednodušší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2800" y="4591943"/>
            <a:ext cx="11379200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Inkrementální záloha zkracuje obnovu: místo redo za celý týden se aplikují bloky z inkrementálních záloh a jen zbytek redo.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RMAN · architektura a zálohování · Typy záloh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TYPY ZÁLOH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Rozdílová × kumulativní: pozor na terminologii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35051"/>
            <a:ext cx="5168900" cy="1808361"/>
          </a:xfrm>
          <a:prstGeom prst="roundRect">
            <a:avLst>
              <a:gd name="adj" fmla="val 66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1079500" y="2095401"/>
            <a:ext cx="4787646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Rozdílová (differential)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9500" y="2459831"/>
            <a:ext cx="4787646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L0 ← L1 ← L1 ← L1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9500" y="2801441"/>
            <a:ext cx="4787646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Každá obsahuje změny od předchozí zálohy.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9500" y="3143052"/>
            <a:ext cx="4787646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Při obnově se aplikují všechny L1.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03950" y="1835051"/>
            <a:ext cx="5168900" cy="1808361"/>
          </a:xfrm>
          <a:prstGeom prst="roundRect">
            <a:avLst>
              <a:gd name="adj" fmla="val 66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6464300" y="2095401"/>
            <a:ext cx="4787646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Kumulativní (cumulative)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64300" y="2459831"/>
            <a:ext cx="4787646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L0 ← L1c, L0 ← L1c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64300" y="2801441"/>
            <a:ext cx="4787646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Každá obsahuje změny od poslední L0.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64300" y="3143052"/>
            <a:ext cx="4787646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Při obnově stačí L0 a poslední L1c.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9150" y="3910112"/>
            <a:ext cx="10553700" cy="865981"/>
          </a:xfrm>
          <a:prstGeom prst="roundRect">
            <a:avLst>
              <a:gd name="adj" fmla="val 13932"/>
            </a:avLst>
          </a:prstGeom>
          <a:solidFill>
            <a:srgbClr val="FFF7ED"/>
          </a:solidFill>
          <a:ln w="12700">
            <a:solidFill>
              <a:srgbClr val="C2410C"/>
            </a:solidFill>
            <a:prstDash val="solid"/>
          </a:ln>
        </p:spPr>
        <p:txBody>
          <a:bodyPr wrap="square" lIns="225013" tIns="148813" rIns="0" bIns="123413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Pozor na češtinu:</a:t>
            </a: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 obecné literatuře je „rozdílová“ záloha změna od poslední plné zálohy. To je v Oracle </a:t>
            </a: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kumulativní</a:t>
            </a: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Oracle </a:t>
            </a:r>
            <a:r>
              <a:rPr lang="en-US" sz="1400" i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differential</a:t>
            </a: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znamená změny od poslední zálohy jakékoli úrovně.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RMAN · architektura a zálohování · Typy záloh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TYPY ZÁLOH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Sada záloh × kopie obrazu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333750" y="1828701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Sada záloh (backup set)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550150" y="1828701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Kopie obrazu (image copy)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5975" y="2121396"/>
            <a:ext cx="10560050" cy="491430"/>
          </a:xfrm>
          <a:prstGeom prst="roundRect">
            <a:avLst>
              <a:gd name="adj" fmla="val 1744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1022350" y="2251571"/>
            <a:ext cx="222377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formát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33750" y="2251571"/>
            <a:ext cx="418592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vlastní formát RMAN (backup pieces)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550150" y="2251571"/>
            <a:ext cx="418592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bajtově shodná kopie souboru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5975" y="2695377"/>
            <a:ext cx="10560050" cy="491430"/>
          </a:xfrm>
          <a:prstGeom prst="roundRect">
            <a:avLst>
              <a:gd name="adj" fmla="val 1744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1022350" y="2825552"/>
            <a:ext cx="222377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obsah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3750" y="2825552"/>
            <a:ext cx="418592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jen použité bloky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550150" y="2825552"/>
            <a:ext cx="418592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všechny bloky včetně prázdných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5975" y="3269357"/>
            <a:ext cx="10560050" cy="491430"/>
          </a:xfrm>
          <a:prstGeom prst="roundRect">
            <a:avLst>
              <a:gd name="adj" fmla="val 1744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1022350" y="3399532"/>
            <a:ext cx="222377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komprese, šifrování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3750" y="3399532"/>
            <a:ext cx="418592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550150" y="3399532"/>
            <a:ext cx="418592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ne, jen na disk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5975" y="3843338"/>
            <a:ext cx="10560050" cy="491430"/>
          </a:xfrm>
          <a:prstGeom prst="roundRect">
            <a:avLst>
              <a:gd name="adj" fmla="val 1744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1022350" y="3973512"/>
            <a:ext cx="222377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obnova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33750" y="3973512"/>
            <a:ext cx="418592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nejdřív RESTORE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550150" y="3973512"/>
            <a:ext cx="418592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okamžitě: SWITCH DATAFILE … TO COPY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15975" y="4417318"/>
            <a:ext cx="10560050" cy="491430"/>
          </a:xfrm>
          <a:prstGeom prst="roundRect">
            <a:avLst>
              <a:gd name="adj" fmla="val 1744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Text 21"/>
          <p:cNvSpPr/>
          <p:nvPr/>
        </p:nvSpPr>
        <p:spPr>
          <a:xfrm>
            <a:off x="1022350" y="4547493"/>
            <a:ext cx="222377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příkaz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33750" y="4547493"/>
            <a:ext cx="418592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 AS BACKUPSET (výchozí)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550150" y="4547493"/>
            <a:ext cx="418592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 AS COPY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2800" y="5165923"/>
            <a:ext cx="10883392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Inkrementálně aktualizovaná záloha:</a:t>
            </a: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kopie obrazů, do kterých se denně aplikuje L1. Kopie je stále téměř aktuální.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RMAN · architektura a zálohování · Typy záloh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NASTAVENÍ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CONFIGURE: trvalé nastavení RMAN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28701"/>
            <a:ext cx="10566400" cy="1917402"/>
          </a:xfrm>
          <a:prstGeom prst="roundRect">
            <a:avLst>
              <a:gd name="adj" fmla="val 6624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1066800" y="2082701"/>
            <a:ext cx="103601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SHOW ALL;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66800" y="2377281"/>
            <a:ext cx="103601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CONFIGURE RETENTION POLICY TO RECOVERY WINDOW OF 7 DAYS;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66800" y="2671862"/>
            <a:ext cx="103601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CONFIGURE CONTROLFILE AUTOBACKUP ON;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6800" y="2966442"/>
            <a:ext cx="103601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CONFIGURE DEVICE TYPE DISK PARALLELISM 1 BACKUP TYPE TO COMPRESSED BACKUPSET;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6800" y="3261023"/>
            <a:ext cx="103601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CONFIGURE ARCHIVELOG DELETION POLICY TO BACKED UP 1 TIMES TO DISK;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9150" y="4006453"/>
            <a:ext cx="3407767" cy="1365151"/>
          </a:xfrm>
          <a:prstGeom prst="roundRect">
            <a:avLst>
              <a:gd name="adj" fmla="val 88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1079500" y="4266803"/>
            <a:ext cx="2973679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Kde je uloženo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79500" y="4631234"/>
            <a:ext cx="2973679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 řídicím souboru, platí pro celou CDB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92017" y="4006453"/>
            <a:ext cx="3407866" cy="1365151"/>
          </a:xfrm>
          <a:prstGeom prst="roundRect">
            <a:avLst>
              <a:gd name="adj" fmla="val 88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4652367" y="4266803"/>
            <a:ext cx="2973781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Návrat k výchozímu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52367" y="4631234"/>
            <a:ext cx="2973781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CONFIGURE … CLEAR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64984" y="4006453"/>
            <a:ext cx="3407866" cy="1365151"/>
          </a:xfrm>
          <a:prstGeom prst="roundRect">
            <a:avLst>
              <a:gd name="adj" fmla="val 88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8225334" y="4266803"/>
            <a:ext cx="2973781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Paralelismus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5334" y="4631234"/>
            <a:ext cx="2973781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více kanálů je funkce EE, ve Free ponechte 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RMAN · architektura a zálohování · Nastavení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NASTAVENÍ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Politika uchovávání (retention policy)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35051"/>
            <a:ext cx="5168900" cy="1706761"/>
          </a:xfrm>
          <a:prstGeom prst="roundRect">
            <a:avLst>
              <a:gd name="adj" fmla="val 70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1079500" y="2095401"/>
            <a:ext cx="4787646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RECOVERY WINDOW OF n DAYS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9500" y="2459831"/>
            <a:ext cx="4787646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Zachovat zálohy potřebné k obnově k libovolnému okamžiku za posledních n dní.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9500" y="3041452"/>
            <a:ext cx="4787646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Určuje časový rozsah.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03950" y="1835051"/>
            <a:ext cx="5168900" cy="1706761"/>
          </a:xfrm>
          <a:prstGeom prst="roundRect">
            <a:avLst>
              <a:gd name="adj" fmla="val 70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6464300" y="2095401"/>
            <a:ext cx="4787646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REDUNDANCY 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64300" y="2459831"/>
            <a:ext cx="4787646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Zachovat n záloh každého souboru (výchozí 1).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64300" y="2801441"/>
            <a:ext cx="4787646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Určuje počet, bez ohledu na stáří.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9150" y="3808512"/>
            <a:ext cx="10553700" cy="617141"/>
          </a:xfrm>
          <a:prstGeom prst="roundRect">
            <a:avLst>
              <a:gd name="adj" fmla="val 195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225013" tIns="148813" rIns="0" bIns="123413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 politiku nesplňuje, je </a:t>
            </a: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zastaralé (obsolete)</a:t>
            </a: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Vypíše to REPORT OBSOLETE, smaže DELETE OBSOLETE.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RMAN · architektura a zálohování · Nastavení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NASTAVENÍ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Dvě věci, na které nezapomenout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35051"/>
            <a:ext cx="5168900" cy="1946771"/>
          </a:xfrm>
          <a:prstGeom prst="roundRect">
            <a:avLst>
              <a:gd name="adj" fmla="val 619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1079500" y="2095401"/>
            <a:ext cx="4787646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Bez formátu → FRA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9500" y="2459831"/>
            <a:ext cx="4787646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Pokud nenastavíte formát, zálohy jdou do Fast Recovery Area.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9500" y="3041452"/>
            <a:ext cx="4787646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Formát řídí názvy: %U jedinečný, %d databáze, %T datum, %F DBID a datum.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03950" y="1835051"/>
            <a:ext cx="5168900" cy="1946771"/>
          </a:xfrm>
          <a:prstGeom prst="roundRect">
            <a:avLst>
              <a:gd name="adj" fmla="val 619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6464300" y="2095401"/>
            <a:ext cx="4787646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Autozáloha řídicího souboru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64300" y="2459831"/>
            <a:ext cx="4787646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 každé záloze se zálohuje řídicí soubor a SPFILE. Od verze 12.2 je výchozí ON.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64300" y="3041452"/>
            <a:ext cx="4787646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Bez ní po ztrátě všech řídicích souborů zálohy bez katalogu nenajdete.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RMAN · architektura a zálohování · Nastavení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 CHANGE TRACKING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Proč je inkrementální záloha bez BCT pomalá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35051"/>
            <a:ext cx="5168900" cy="1706761"/>
          </a:xfrm>
          <a:prstGeom prst="roundRect">
            <a:avLst>
              <a:gd name="adj" fmla="val 7069"/>
            </a:avLst>
          </a:prstGeom>
          <a:solidFill>
            <a:srgbClr val="FFF7ED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1079500" y="2095401"/>
            <a:ext cx="4787646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Bez BCT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9500" y="2459831"/>
            <a:ext cx="4787646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L1 musí přečíst všechny bloky všech souborů a porovnat jejich SCN se SCN základní zálohy.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9500" y="3041452"/>
            <a:ext cx="4787646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Záloha je malá, ale trvá skoro stejně dlouho jako L0.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03950" y="1835051"/>
            <a:ext cx="5168900" cy="1706761"/>
          </a:xfrm>
          <a:prstGeom prst="roundRect">
            <a:avLst>
              <a:gd name="adj" fmla="val 7069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6464300" y="2095401"/>
            <a:ext cx="4787646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 BCT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64300" y="2459831"/>
            <a:ext cx="4787646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 CTWR zapisuje do souboru sledování změn, které bloky se změnily.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64300" y="3041452"/>
            <a:ext cx="4787646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L1 čte jen tyto bloky.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RMAN · architektura a zálohování · BCT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 CHANGE TRACKING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BCT v praxi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28701"/>
            <a:ext cx="10566400" cy="2211983"/>
          </a:xfrm>
          <a:prstGeom prst="roundRect">
            <a:avLst>
              <a:gd name="adj" fmla="val 5741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1066800" y="2082701"/>
            <a:ext cx="103601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ALTER DATABASE ENABLE BLOCK CHANGE TRACKING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66800" y="2377281"/>
            <a:ext cx="103601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USING FILE 'C:\app\oradata\FREE\bct_free.chg';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66800" y="2671862"/>
            <a:ext cx="103601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SELECT status, filename FROM v$block_change_tracking;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6800" y="2966442"/>
            <a:ext cx="103601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-- využila záloha BCT?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6800" y="3261023"/>
            <a:ext cx="103601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SELECT used_change_tracking, blocks_read, datafile_blocks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66800" y="3555603"/>
            <a:ext cx="103601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v$backup_datafile WHERE incremental_level = 1;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9150" y="4301034"/>
            <a:ext cx="3407767" cy="1125141"/>
          </a:xfrm>
          <a:prstGeom prst="roundRect">
            <a:avLst>
              <a:gd name="adj" fmla="val 107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Text 10"/>
          <p:cNvSpPr/>
          <p:nvPr/>
        </p:nvSpPr>
        <p:spPr>
          <a:xfrm>
            <a:off x="1079500" y="4561384"/>
            <a:ext cx="2973679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Jeden soubor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79500" y="4925814"/>
            <a:ext cx="2973679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 celou CDB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92017" y="4301034"/>
            <a:ext cx="3407866" cy="1125141"/>
          </a:xfrm>
          <a:prstGeom prst="roundRect">
            <a:avLst>
              <a:gd name="adj" fmla="val 107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4652367" y="4561384"/>
            <a:ext cx="2973781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 zapnutí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52367" y="4925814"/>
            <a:ext cx="2973781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nová záloha L0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964984" y="4301034"/>
            <a:ext cx="3407866" cy="1125141"/>
          </a:xfrm>
          <a:prstGeom prst="roundRect">
            <a:avLst>
              <a:gd name="adj" fmla="val 107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Text 16"/>
          <p:cNvSpPr/>
          <p:nvPr/>
        </p:nvSpPr>
        <p:spPr>
          <a:xfrm>
            <a:off x="8225334" y="4561384"/>
            <a:ext cx="2973781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Licence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5334" y="4925814"/>
            <a:ext cx="2973781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funkce EE, součást Free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RMAN · architektura a zálohování · BCT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CDB A PDB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Záloha celé CDB a jednotlivé PDB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28701"/>
            <a:ext cx="10566400" cy="1917402"/>
          </a:xfrm>
          <a:prstGeom prst="roundRect">
            <a:avLst>
              <a:gd name="adj" fmla="val 6624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1066800" y="2082701"/>
            <a:ext cx="103601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BACKUP DATABASE PLUS ARCHIVELOG; </a:t>
            </a:r>
            <a:r>
              <a:rPr lang="en-US" sz="13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-- celá CDB: kořen, PDB$SEED, všechny PDB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66800" y="2377281"/>
            <a:ext cx="103601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BACKUP PLUGGABLE DATABASE freepdb1; </a:t>
            </a:r>
            <a:r>
              <a:rPr lang="en-US" sz="13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-- jen vybraná PDB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66800" y="2671862"/>
            <a:ext cx="103601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BACKUP DATABASE ROOT; </a:t>
            </a:r>
            <a:r>
              <a:rPr lang="en-US" sz="13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-- jen kořen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6800" y="2966442"/>
            <a:ext cx="103601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BACKUP ARCHIVELOG ALL;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6800" y="3261023"/>
            <a:ext cx="103601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BACKUP CURRENT CONTROLFILE;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9150" y="4006453"/>
            <a:ext cx="10553700" cy="865981"/>
          </a:xfrm>
          <a:prstGeom prst="roundRect">
            <a:avLst>
              <a:gd name="adj" fmla="val 13932"/>
            </a:avLst>
          </a:prstGeom>
          <a:solidFill>
            <a:srgbClr val="FFF7ED"/>
          </a:solidFill>
          <a:ln w="12700">
            <a:solidFill>
              <a:srgbClr val="C2410C"/>
            </a:solidFill>
            <a:prstDash val="solid"/>
          </a:ln>
        </p:spPr>
        <p:txBody>
          <a:bodyPr wrap="square" lIns="225013" tIns="148813" rIns="0" bIns="123413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Záloha samotné PDB nestačí.</a:t>
            </a: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Při obnově PDB jsou potřeba archivní logy a řídicí soubor, které jsou společné pro celou CDB a pořizují se z kořene.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RMAN · architektura a zálohování · CDB a PDB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OVĚŘENÍ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Ověření záloh: LIST, REPORT, CROSSCHECK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16000" y="1828701"/>
            <a:ext cx="40551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Příkaz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105400" y="1828701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Výsledek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5975" y="2121396"/>
            <a:ext cx="10560050" cy="491430"/>
          </a:xfrm>
          <a:prstGeom prst="roundRect">
            <a:avLst>
              <a:gd name="adj" fmla="val 1744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1022350" y="2259806"/>
            <a:ext cx="405511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2563E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LIST BACKUP SUMMARY;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11750" y="2251571"/>
            <a:ext cx="65405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stručný přehled všech záloh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5975" y="2695377"/>
            <a:ext cx="10560050" cy="491430"/>
          </a:xfrm>
          <a:prstGeom prst="roundRect">
            <a:avLst>
              <a:gd name="adj" fmla="val 1744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1022350" y="2833787"/>
            <a:ext cx="405511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2563E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REPORT NEED BACKUP;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11750" y="2825552"/>
            <a:ext cx="65405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soubory bez dostatečné zálohy podle politiky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5975" y="3269357"/>
            <a:ext cx="10560050" cy="491430"/>
          </a:xfrm>
          <a:prstGeom prst="roundRect">
            <a:avLst>
              <a:gd name="adj" fmla="val 1744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1022350" y="3407767"/>
            <a:ext cx="405511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2563E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REPORT OBSOLETE;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11750" y="3399532"/>
            <a:ext cx="65405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zastaralé zálohy (mazání: DELETE OBSOLETE)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5975" y="3843338"/>
            <a:ext cx="10560050" cy="491430"/>
          </a:xfrm>
          <a:prstGeom prst="roundRect">
            <a:avLst>
              <a:gd name="adj" fmla="val 1744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1022350" y="3981748"/>
            <a:ext cx="405511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2563E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CROSSCHECK BACKUP;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11750" y="3973512"/>
            <a:ext cx="65405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existují soubory záloh? chybějící jsou EXPIRED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5975" y="4417318"/>
            <a:ext cx="10560050" cy="491430"/>
          </a:xfrm>
          <a:prstGeom prst="roundRect">
            <a:avLst>
              <a:gd name="adj" fmla="val 1744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1022350" y="4555728"/>
            <a:ext cx="405511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2563E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REPORT SCHEMA;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11750" y="4547493"/>
            <a:ext cx="65405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datové soubory databáze včetně PDB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2800" y="5165923"/>
            <a:ext cx="10883392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obsolete</a:t>
            </a: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politika ji nepotřebuje · </a:t>
            </a:r>
            <a:r>
              <a:rPr lang="en-US" sz="14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expired</a:t>
            </a: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soubor záloh chybí na disku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RMAN · architektura a zálohování · Ověření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SHRNUTÍ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 si odnést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35051"/>
            <a:ext cx="5067300" cy="1161951"/>
          </a:xfrm>
          <a:prstGeom prst="roundRect">
            <a:avLst>
              <a:gd name="adj" fmla="val 1038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1054100" y="2019201"/>
            <a:ext cx="4735322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Bloky a evidence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4100" y="2332831"/>
            <a:ext cx="4735322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RMAN zálohuje použité bloky, evidenci vede v řídicím souboru.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51550" y="1835051"/>
            <a:ext cx="5067300" cy="1161951"/>
          </a:xfrm>
          <a:prstGeom prst="roundRect">
            <a:avLst>
              <a:gd name="adj" fmla="val 1038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6286500" y="2019201"/>
            <a:ext cx="4735322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ARCHIVELOG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86500" y="2332831"/>
            <a:ext cx="4735322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základ záloh za provozu a obnovy k okamžiku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9150" y="3136702"/>
            <a:ext cx="5067300" cy="921941"/>
          </a:xfrm>
          <a:prstGeom prst="roundRect">
            <a:avLst>
              <a:gd name="adj" fmla="val 1308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1054100" y="3320852"/>
            <a:ext cx="4735322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L0 a L1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4100" y="3634482"/>
            <a:ext cx="4735322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L0 je základ, L1 je rozdílová nebo kumulativní.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51550" y="3136702"/>
            <a:ext cx="5067300" cy="921941"/>
          </a:xfrm>
          <a:prstGeom prst="roundRect">
            <a:avLst>
              <a:gd name="adj" fmla="val 1308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6286500" y="3320852"/>
            <a:ext cx="4735322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86500" y="3634482"/>
            <a:ext cx="4735322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trvalé nastavení; bez formátu jdou zálohy do FRA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9150" y="4198342"/>
            <a:ext cx="5067300" cy="921941"/>
          </a:xfrm>
          <a:prstGeom prst="roundRect">
            <a:avLst>
              <a:gd name="adj" fmla="val 1308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1054100" y="4382492"/>
            <a:ext cx="4735322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BCT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4100" y="4696123"/>
            <a:ext cx="4735322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L1 čte jen změněné bloky.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51550" y="4198342"/>
            <a:ext cx="5067300" cy="921941"/>
          </a:xfrm>
          <a:prstGeom prst="roundRect">
            <a:avLst>
              <a:gd name="adj" fmla="val 1308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Text 18"/>
          <p:cNvSpPr/>
          <p:nvPr/>
        </p:nvSpPr>
        <p:spPr>
          <a:xfrm>
            <a:off x="6286500" y="4382492"/>
            <a:ext cx="4735322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Celá CDB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86500" y="4696123"/>
            <a:ext cx="4735322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záloha samotné PDB nestačí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RMAN · architektura a zálohování · Shrnutí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MAN: architektura a zálohování">
  <a:themeElements>
    <a:clrScheme name="RMAN: architektura a zálohování">
      <a:dk1>
        <a:srgbClr val="0F172A"/>
      </a:dk1>
      <a:lt1>
        <a:srgbClr val="F5F6F8"/>
      </a:lt1>
      <a:dk2>
        <a:srgbClr val="494F5E"/>
      </a:dk2>
      <a:lt2>
        <a:srgbClr val="DEE0E3"/>
      </a:lt2>
      <a:accent1>
        <a:srgbClr val="2563EB"/>
      </a:accent1>
      <a:accent2>
        <a:srgbClr val="64748B"/>
      </a:accent2>
      <a:accent3>
        <a:srgbClr val="60A5FA"/>
      </a:accent3>
      <a:accent4>
        <a:srgbClr val="C2410C"/>
      </a:accent4>
      <a:accent5>
        <a:srgbClr val="FB923C"/>
      </a:accent5>
      <a:accent6>
        <a:srgbClr val="94A3B8"/>
      </a:accent6>
      <a:hlink>
        <a:srgbClr val="0563C1"/>
      </a:hlink>
      <a:folHlink>
        <a:srgbClr val="954F72"/>
      </a:folHlink>
    </a:clrScheme>
    <a:fontScheme name="RMAN: architektura a zálohování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2683</Words>
  <Application>Microsoft Office PowerPoint</Application>
  <PresentationFormat>Širokoúhlá obrazovka</PresentationFormat>
  <Paragraphs>244</Paragraphs>
  <Slides>17</Slides>
  <Notes>17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17</vt:i4>
      </vt:variant>
    </vt:vector>
  </HeadingPairs>
  <TitlesOfParts>
    <vt:vector size="21" baseType="lpstr">
      <vt:lpstr>Arial</vt:lpstr>
      <vt:lpstr>Inter</vt:lpstr>
      <vt:lpstr>JetBrains Mono</vt:lpstr>
      <vt:lpstr>RMAN: architektura a zálohování</vt:lpstr>
      <vt:lpstr>RMAN: architektura a zálohování</vt:lpstr>
      <vt:lpstr>RMAN pracuje s bloky, ne se soubory</vt:lpstr>
      <vt:lpstr>Kdo co dělá</vt:lpstr>
      <vt:lpstr>Součásti RMAN</vt:lpstr>
      <vt:lpstr>7 dní</vt:lpstr>
      <vt:lpstr>Databáze musí běžet v režimu ARCHIVELOG</vt:lpstr>
      <vt:lpstr>Plná a inkrementální záloha</vt:lpstr>
      <vt:lpstr>Rozdílová × kumulativní: pozor na terminologii</vt:lpstr>
      <vt:lpstr>Sada záloh × kopie obrazu</vt:lpstr>
      <vt:lpstr>CONFIGURE: trvalé nastavení RMAN</vt:lpstr>
      <vt:lpstr>Politika uchovávání (retention policy)</vt:lpstr>
      <vt:lpstr>Dvě věci, na které nezapomenout</vt:lpstr>
      <vt:lpstr>Proč je inkrementální záloha bez BCT pomalá</vt:lpstr>
      <vt:lpstr>BCT v praxi</vt:lpstr>
      <vt:lpstr>Záloha celé CDB a jednotlivé PDB</vt:lpstr>
      <vt:lpstr>Ověření záloh: LIST, REPORT, CROSSCHECK</vt:lpstr>
      <vt:lpstr>Co si odnést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RMAN: architektura a zálohování</dc:title>
  <dc:subject/>
  <dc:creator/>
  <cp:lastModifiedBy>Vojtěch Volf</cp:lastModifiedBy>
  <cp:revision>2</cp:revision>
  <dcterms:created xsi:type="dcterms:W3CDTF">2026-10-20T17:46:24Z</dcterms:created>
  <dcterms:modified xsi:type="dcterms:W3CDTF">2026-10-21T22:17:48Z</dcterms:modified>
</cp:coreProperties>
</file>